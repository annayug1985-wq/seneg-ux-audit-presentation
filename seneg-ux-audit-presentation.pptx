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63c54a9ec04172" /><Relationship Type="http://schemas.openxmlformats.org/officeDocument/2006/relationships/extended-properties" Target="/docProps/app.xml" Id="R27081a465f814443" /><Relationship Type="http://schemas.openxmlformats.org/officeDocument/2006/relationships/officeDocument" Target="/ppt/presentation.xml" Id="Rf1a6078a704e4a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3255515b374c70"/>
  </p:sldMasterIdLst>
  <p:notesMasterIdLst>
    <p:notesMasterId xmlns:r="http://schemas.openxmlformats.org/officeDocument/2006/relationships" r:id="R9ba326fc4aed41a0"/>
  </p:notesMasterIdLst>
  <p:sldIdLst>
    <p:sldId xmlns:r="http://schemas.openxmlformats.org/officeDocument/2006/relationships" id="256" r:id="R1342d0262eb041be"/>
    <p:sldId xmlns:r="http://schemas.openxmlformats.org/officeDocument/2006/relationships" id="257" r:id="R244e45d9aa4f44a0"/>
    <p:sldId xmlns:r="http://schemas.openxmlformats.org/officeDocument/2006/relationships" id="258" r:id="Rdb866efdac224083"/>
    <p:sldId xmlns:r="http://schemas.openxmlformats.org/officeDocument/2006/relationships" id="259" r:id="R845b839f26c14419"/>
    <p:sldId xmlns:r="http://schemas.openxmlformats.org/officeDocument/2006/relationships" id="260" r:id="Rcd19b03c37b34232"/>
    <p:sldId xmlns:r="http://schemas.openxmlformats.org/officeDocument/2006/relationships" id="261" r:id="Ra4fecbd66a504cc6"/>
    <p:sldId xmlns:r="http://schemas.openxmlformats.org/officeDocument/2006/relationships" id="262" r:id="Raeb8cc24ff01460a"/>
    <p:sldId xmlns:r="http://schemas.openxmlformats.org/officeDocument/2006/relationships" id="263" r:id="R318560f7874b488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cc3d09db1f48c5" /><Relationship Type="http://schemas.openxmlformats.org/officeDocument/2006/relationships/slideMaster" Target="/ppt/slideMasters/slideMaster1.xml" Id="Re53255515b374c70" /><Relationship Type="http://schemas.openxmlformats.org/officeDocument/2006/relationships/notesMaster" Target="/ppt/notesMasters/notesMaster1.xml" Id="R9ba326fc4aed41a0" /><Relationship Type="http://schemas.openxmlformats.org/officeDocument/2006/relationships/presProps" Target="/ppt/presProps.xml" Id="R24a0125b291b4937" /><Relationship Type="http://schemas.openxmlformats.org/officeDocument/2006/relationships/tableStyles" Target="/ppt/tableStyles.xml" Id="Rebfe5ead14b14173" /><Relationship Type="http://schemas.openxmlformats.org/officeDocument/2006/relationships/slide" Target="/ppt/slides/slide1.xml" Id="R1342d0262eb041be" /><Relationship Type="http://schemas.openxmlformats.org/officeDocument/2006/relationships/slide" Target="/ppt/slides/slide2.xml" Id="R244e45d9aa4f44a0" /><Relationship Type="http://schemas.openxmlformats.org/officeDocument/2006/relationships/slide" Target="/ppt/slides/slide3.xml" Id="Rdb866efdac224083" /><Relationship Type="http://schemas.openxmlformats.org/officeDocument/2006/relationships/slide" Target="/ppt/slides/slide4.xml" Id="R845b839f26c14419" /><Relationship Type="http://schemas.openxmlformats.org/officeDocument/2006/relationships/slide" Target="/ppt/slides/slide5.xml" Id="Rcd19b03c37b34232" /><Relationship Type="http://schemas.openxmlformats.org/officeDocument/2006/relationships/slide" Target="/ppt/slides/slide6.xml" Id="Ra4fecbd66a504cc6" /><Relationship Type="http://schemas.openxmlformats.org/officeDocument/2006/relationships/slide" Target="/ppt/slides/slide7.xml" Id="Raeb8cc24ff01460a" /><Relationship Type="http://schemas.openxmlformats.org/officeDocument/2006/relationships/slide" Target="/ppt/slides/slide8.xml" Id="R318560f7874b48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a2654d0c474c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1480b693694ee7" /><Relationship Type="http://schemas.openxmlformats.org/officeDocument/2006/relationships/notesMaster" Target="/ppt/notesMasters/notesMaster1.xml" Id="R837093024c3e45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f4b685bd0a4fee" /><Relationship Type="http://schemas.openxmlformats.org/officeDocument/2006/relationships/notesMaster" Target="/ppt/notesMasters/notesMaster1.xml" Id="R743d38e8a84a4e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bd3ee7812b44a1" /><Relationship Type="http://schemas.openxmlformats.org/officeDocument/2006/relationships/notesMaster" Target="/ppt/notesMasters/notesMaster1.xml" Id="R27dee877598f4f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e31809a6464b86" /><Relationship Type="http://schemas.openxmlformats.org/officeDocument/2006/relationships/notesMaster" Target="/ppt/notesMasters/notesMaster1.xml" Id="Rafef0bcaf9484e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58a2e2d4df43e4" /><Relationship Type="http://schemas.openxmlformats.org/officeDocument/2006/relationships/notesMaster" Target="/ppt/notesMasters/notesMaster1.xml" Id="Rb34b7179319e41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2ad80e426f4ff5" /><Relationship Type="http://schemas.openxmlformats.org/officeDocument/2006/relationships/notesMaster" Target="/ppt/notesMasters/notesMaster1.xml" Id="R3ff8b1e179c447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66069bd3fa40dc" /><Relationship Type="http://schemas.openxmlformats.org/officeDocument/2006/relationships/notesMaster" Target="/ppt/notesMasters/notesMaster1.xml" Id="Rb8680e5acfc741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efd90087cf4cef" /><Relationship Type="http://schemas.openxmlformats.org/officeDocument/2006/relationships/notesMaster" Target="/ppt/notesMasters/notesMaster1.xml" Id="R70bc188aab4b4a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7be539da4240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246f20ce304a45" /><Relationship Type="http://schemas.openxmlformats.org/officeDocument/2006/relationships/slideLayout" Target="/ppt/slideLayouts/slideLayout1.xml" Id="R8bef5ad058a34c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ef5ad058a34c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34241f7504153" /><Relationship Type="http://schemas.openxmlformats.org/officeDocument/2006/relationships/notesSlide" Target="/ppt/notesSlides/notesSlide1.xml" Id="R59fafddf470846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6d3ba289745e0" /><Relationship Type="http://schemas.openxmlformats.org/officeDocument/2006/relationships/notesSlide" Target="/ppt/notesSlides/notesSlide2.xml" Id="R0315a83843474f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5f9879875491c" /><Relationship Type="http://schemas.openxmlformats.org/officeDocument/2006/relationships/image" Target="/ppt/media/image.png" Id="Ra8baf12ffc5e44af" /><Relationship Type="http://schemas.openxmlformats.org/officeDocument/2006/relationships/notesSlide" Target="/ppt/notesSlides/notesSlide3.xml" Id="Rf83d17f37e8a46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0a73b5570404e" /><Relationship Type="http://schemas.openxmlformats.org/officeDocument/2006/relationships/image" Target="/ppt/media/image2.png" Id="R845738c270f240ec" /><Relationship Type="http://schemas.openxmlformats.org/officeDocument/2006/relationships/notesSlide" Target="/ppt/notesSlides/notesSlide4.xml" Id="Rd5224733934f4b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df0354fb64751" /><Relationship Type="http://schemas.openxmlformats.org/officeDocument/2006/relationships/image" Target="/ppt/media/image3.png" Id="R61f999b09ddc4d2d" /><Relationship Type="http://schemas.openxmlformats.org/officeDocument/2006/relationships/notesSlide" Target="/ppt/notesSlides/notesSlide5.xml" Id="R4636cc03134442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307d7ca6744a9" /><Relationship Type="http://schemas.openxmlformats.org/officeDocument/2006/relationships/image" Target="/ppt/media/image4.png" Id="Ra765584f269f4459" /><Relationship Type="http://schemas.openxmlformats.org/officeDocument/2006/relationships/notesSlide" Target="/ppt/notesSlides/notesSlide6.xml" Id="Ra164fbc6038c46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de976208648fe" /><Relationship Type="http://schemas.openxmlformats.org/officeDocument/2006/relationships/notesSlide" Target="/ppt/notesSlides/notesSlide7.xml" Id="R387da37d1e154b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65c17f6454f23" /><Relationship Type="http://schemas.openxmlformats.org/officeDocument/2006/relationships/notesSlide" Target="/ppt/notesSlides/notesSlide8.xml" Id="Rdfdad4474a0942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5715A6-4AF6-4E89-BAFE-0DF3CB1B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UX аудит сайта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DFB71-F441-45FC-82E9-FDA2612E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33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F16C0-97E1-4327-A26D-B8599228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04875"/>
            <a:ext cx="9239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3600" b="1" i="0">
                <a:solidFill>
                  <a:srgbClr val="111111"/>
                </a:solidFill>
              </a:defRPr>
            </a:pPr>
            <a:r>
              <a:rPr sz="3600" b="1" i="0">
                <a:solidFill>
                  <a:srgbClr val="111111"/>
                </a:solidFill>
              </a:rPr>
              <a:t>Сайт «Сенеж» создаёт доверие брендом, но теряет конверсию на первом касании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2ADF9-CD03-4CA7-B3AB-B7DD3801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2420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 b="0" i="0">
                <a:solidFill>
                  <a:srgbClr val="555555"/>
                </a:solidFill>
              </a:defRPr>
            </a:pPr>
            <a:r>
              <a:rPr sz="1800" b="0" i="0">
                <a:solidFill>
                  <a:srgbClr val="555555"/>
                </a:solidFill>
              </a:rPr>
              <a:t>Презентация по итогам UX-, conversion- и accessibility-проверки сайта seneg.ru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58C0E-E2EE-425E-8708-9EA944C3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0"/>
            <a:ext cx="3429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E7294-7DAA-435C-88E5-DF3AB761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3429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F2CBD-6571-4DCA-B3ED-228C2105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62500"/>
            <a:ext cx="39814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4E5E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3E983-1DBC-47A3-A6D0-8E25A8A2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00625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 i="0">
                <a:solidFill>
                  <a:srgbClr val="111111"/>
                </a:solidFill>
              </a:defRPr>
            </a:pPr>
            <a:r>
              <a:rPr sz="2550" b="1" i="0">
                <a:solidFill>
                  <a:srgbClr val="111111"/>
                </a:solidFill>
              </a:rPr>
              <a:t>Оценка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2550" b="1" i="0">
                <a:solidFill>
                  <a:srgbClr val="111111"/>
                </a:solidFill>
              </a:defRPr>
            </a:pPr>
            <a:r>
              <a:rPr sz="2550" b="1" i="0">
                <a:solidFill>
                  <a:srgbClr val="111111"/>
                </a:solidFill>
              </a:rPr>
              <a:t>4.8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A7C30-C749-4851-9833-47A13DAD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2920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1" i="0">
                <a:solidFill>
                  <a:srgbClr val="111111"/>
                </a:solidFill>
              </a:defRPr>
            </a:pPr>
            <a:r>
              <a:rPr sz="1725" b="1" i="0">
                <a:solidFill>
                  <a:srgbClr val="111111"/>
                </a:solidFill>
              </a:rPr>
              <a:t>Приоритетные проблемы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725" b="1" i="0">
                <a:solidFill>
                  <a:srgbClr val="111111"/>
                </a:solidFill>
              </a:defRPr>
            </a:pPr>
            <a:r>
              <a:rPr sz="1725" b="1" i="0">
                <a:solidFill>
                  <a:srgbClr val="111111"/>
                </a:solidFill>
              </a:rPr>
              <a:t>1 critical, 5 major, 2 minor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68924-BF57-4495-A20A-9C684E9E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530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1" i="0">
                <a:solidFill>
                  <a:srgbClr val="111111"/>
                </a:solidFill>
              </a:defRPr>
            </a:pPr>
            <a:r>
              <a:rPr sz="1650" b="1" i="0">
                <a:solidFill>
                  <a:srgbClr val="111111"/>
                </a:solidFill>
              </a:rPr>
              <a:t>Главный вывод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650" b="1" i="0">
                <a:solidFill>
                  <a:srgbClr val="111111"/>
                </a:solidFill>
              </a:defRPr>
            </a:pPr>
            <a:r>
              <a:rPr sz="1650" b="1" i="0">
                <a:solidFill>
                  <a:srgbClr val="111111"/>
                </a:solidFill>
              </a:rPr>
              <a:t>Нужно чинить mobile-first опыт, hero и путь к заявке раньше, чем заниматься косметикой</a:t>
            </a:r>
          </a:p>
        </p:txBody>
      </p:sp>
    </p:spTree>
    <p:extLst>
      <p:ext uri="{BB962C8B-B14F-4D97-AF65-F5344CB8AC3E}">
        <p14:creationId xmlns:p14="http://schemas.microsoft.com/office/powerpoint/2010/main" val="1534295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2DEAB2-7287-41C9-90CE-FE42AC6E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Итог аудита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1B64D-0C89-4508-BC53-37B8FD04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23900"/>
            <a:ext cx="904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 i="0">
                <a:solidFill>
                  <a:srgbClr val="111111"/>
                </a:solidFill>
              </a:defRPr>
            </a:pPr>
            <a:r>
              <a:rPr sz="2550" b="1" i="0">
                <a:solidFill>
                  <a:srgbClr val="111111"/>
                </a:solidFill>
              </a:rPr>
              <a:t>Проблема не в одном элементе, а в трении по всей воронке первого касания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FEB84-E8C7-4F61-A584-DC584310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66900"/>
            <a:ext cx="3429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817D1-701E-4432-B12A-1159A78D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66900"/>
            <a:ext cx="3429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85B53-5B11-4ADF-A771-5B20956D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66900"/>
            <a:ext cx="39814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FDE49-00D0-4E4D-9A7B-D6134BBB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Что уже работает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61C72-9949-4BD9-857A-1B6553D1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28575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• Контакты заметны и поддерживают базовое доверие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7F334-A91F-4C68-8747-79C65614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8478"/>
            <a:ext cx="28575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• Карточки товаров содержат полезную техническую информацию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F6F36-3E25-4A91-A176-76D39F61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97580"/>
            <a:ext cx="28575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• Серверная валидация форм и антиспам работают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6C1B3-6F74-41F2-9145-BA4077B8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14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Что мешает конверсии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E529A-DAD4-4DC0-87AA-91D6E5F9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19375"/>
            <a:ext cx="28575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• Перегруженный первый экран без одного доминирующего CTA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7E1C2-E1C0-43BF-AE4D-2620BED0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58478"/>
            <a:ext cx="28575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• Сломанный mobile-first опыт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F11AE-9770-41C2-9096-4F1665AC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97580"/>
            <a:ext cx="28575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• Слишком тяжёлые формы первого контакта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8FB8E-55F0-42AD-AC5F-BCC78D0C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36683"/>
            <a:ext cx="28575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• Слабый коммерческий путь на карточке товара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A8E6F4-90E1-49F7-B50C-8CB9D683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145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Что это значит для бизнеса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8F591-439F-41BB-92B0-9B6E69A5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19375"/>
            <a:ext cx="32385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• Часть мобильного трафика отваливается до осмысленного клика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CF856-7270-4A7D-826C-58C371A4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58478"/>
            <a:ext cx="32385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• Холодный посетитель дольше разбирается в сайте, чем должен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86724-2CF4-4446-B2EC-3DE05319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97580"/>
            <a:ext cx="32385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• Даже сильный бренд выглядит менее актуальным, чем есть на самом деле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0CF202-8F1E-4ADE-B513-296DABD9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91150"/>
            <a:ext cx="1123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Приоритет исправлений: сначала mobile и hero, затем формы и путь к покупке, потом визуальная и контентная полировка.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13804403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AA2E17-5024-40E1-A141-4C139A4A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Пример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8D46D-2B5E-4540-9187-33C5545B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239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 i="0">
                <a:solidFill>
                  <a:srgbClr val="111111"/>
                </a:solidFill>
              </a:defRPr>
            </a:pPr>
            <a:r>
              <a:rPr sz="2550" b="1" i="0">
                <a:solidFill>
                  <a:srgbClr val="111111"/>
                </a:solidFill>
              </a:rPr>
              <a:t>Главная страница перегружает первый экран и не ведёт к одному следующему шагу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af12ffc5e44af"/>
          <a:srcRect xmlns:a="http://schemas.openxmlformats.org/drawingml/2006/main" l="0" t="18717" r="0" b="187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742950"/>
            <a:ext cx="5181600" cy="4953000"/>
          </a:xfrm>
          <a:prstGeom xmlns:a="http://schemas.openxmlformats.org/drawingml/2006/main" prst="roundRect">
            <a:avLst>
              <a:gd name="adj" fmla="val 153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EF7A7-9670-44FA-9B5A-122E3015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42950"/>
            <a:ext cx="5181600" cy="4953000"/>
          </a:xfrm>
          <a:prstGeom xmlns:a="http://schemas.openxmlformats.org/drawingml/2006/main" prst="roundRect">
            <a:avLst>
              <a:gd name="adj" fmla="val 153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AAA63-CB02-43A9-83D0-4028E8E8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0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Что видно на экране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00A31-50B6-430D-B5E6-46693F66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0030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• Телефоны, callback-кнопка, каталог, спецпредложения и новости конкурируют одновременно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6328A-C5B7-4AD4-AA9C-6226F66E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• Hero не объясняет одним блоком, что делать новому посетителю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6377E-7D95-4F3E-8FC2-4B06795D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1470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• Главный CTA визуально слабый и теряется среди вторичных маршрутов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665A6-9870-4AD6-87D2-1EEDB2CB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529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Почему это важно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23730-7309-4962-84E8-F079D940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529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• Пользователь тратит внимание на навигацию вместо решения задачи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E959F-1F7C-4299-828C-7D114132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101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• Падает шанс первого клика в коммерчески полезный сценарий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737B9-393C-4ABC-B3CD-B9C2B2B3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4673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• Сложнее конвертировать холодный трафик из рекламы и поиска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DB47BA-3FEB-41B7-BAA0-5C772CE3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48350"/>
            <a:ext cx="1133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E5E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0C9D9-86B2-419E-AA54-2F45DD18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9122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1" i="0">
                <a:solidFill>
                  <a:srgbClr val="111111"/>
                </a:solidFill>
              </a:defRPr>
            </a:pPr>
            <a:r>
              <a:rPr sz="1650" b="1" i="0">
                <a:solidFill>
                  <a:srgbClr val="111111"/>
                </a:solidFill>
              </a:rPr>
              <a:t>Что менять: собрать первый экран вокруг ценностного предложения, 1 основного CTA и 1–2 вторичных маршрутов</a:t>
            </a:r>
          </a:p>
        </p:txBody>
      </p:sp>
    </p:spTree>
    <p:extLst>
      <p:ext uri="{BB962C8B-B14F-4D97-AF65-F5344CB8AC3E}">
        <p14:creationId xmlns:p14="http://schemas.microsoft.com/office/powerpoint/2010/main" val="3656142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DEBB8C-F9C6-4FE8-B322-3C56FFA1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Пример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101EB-E1F0-4315-8929-99992B32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2390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 i="0">
                <a:solidFill>
                  <a:srgbClr val="111111"/>
                </a:solidFill>
              </a:defRPr>
            </a:pPr>
            <a:r>
              <a:rPr sz="2550" b="1" i="0">
                <a:solidFill>
                  <a:srgbClr val="111111"/>
                </a:solidFill>
              </a:rPr>
              <a:t>Мобильная версия ломает восприятие с первой секунды и напрямую бьёт по отказам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738c270f240ec"/>
          <a:srcRect xmlns:a="http://schemas.openxmlformats.org/drawingml/2006/main" l="0" t="18602" r="0" b="186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771650"/>
            <a:ext cx="3714750" cy="50482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D32AC-0E8B-41A6-83D7-0E98B222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71650"/>
            <a:ext cx="3714750" cy="5048250"/>
          </a:xfrm>
          <a:prstGeom xmlns:a="http://schemas.openxmlformats.org/drawingml/2006/main" prst="roundRect">
            <a:avLst>
              <a:gd name="adj" fmla="val 205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7A88B-20BF-4BCB-8EE1-DD3112FB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71650"/>
            <a:ext cx="721995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1EEB5-C505-4D12-8BB2-C62DB019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764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Наблюдения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79019-9770-40A2-9B01-BD56D019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95550"/>
            <a:ext cx="647700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• Десктопная композиция в хедере почти не перестраивается под narrow viewport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FB8EA-3626-41AA-A42C-A6B5B29A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89898"/>
            <a:ext cx="647700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• Плотные списки и мелкие ссылки осложняют чтение и касание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9B17D-29D8-4563-9566-F38C9AAD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84245"/>
            <a:ext cx="647700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• Контент воспринимается как обрезанный и перегруженный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9E0E4-555A-4E6E-8ADB-D5D70C64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9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Бизнес-эффект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7C66E-0EF4-405C-8B1F-6D416324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14850"/>
            <a:ext cx="647700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• Растёт bounce rate с мобильных устройств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A123D-F0EF-49E9-A1EC-B73EFB1E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09198"/>
            <a:ext cx="647700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• Падает глубина просмотра до контакта или карточки товара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291A3-1A70-4409-8C0D-50A4D933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503545"/>
            <a:ext cx="6477000" cy="5200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 b="0" i="0">
                <a:solidFill>
                  <a:srgbClr val="111111"/>
                </a:solidFill>
              </a:defRPr>
            </a:pPr>
            <a:r>
              <a:rPr sz="1575" b="0" i="0">
                <a:solidFill>
                  <a:srgbClr val="111111"/>
                </a:solidFill>
              </a:rPr>
              <a:t>• Даже качественный трафик хуже доходит до заявки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02927-2044-4808-BE7B-CB92403B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9817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1" i="0">
                <a:solidFill>
                  <a:srgbClr val="222222"/>
                </a:solidFill>
              </a:defRPr>
            </a:pPr>
            <a:r>
              <a:rPr sz="1650" b="1" i="0">
                <a:solidFill>
                  <a:srgbClr val="222222"/>
                </a:solidFill>
              </a:rPr>
              <a:t>Приоритет: пересобрать mobile-first сетку главной и товарных шаблонов раньше визуальной полировки</a:t>
            </a:r>
          </a:p>
        </p:txBody>
      </p:sp>
    </p:spTree>
    <p:extLst>
      <p:ext uri="{BB962C8B-B14F-4D97-AF65-F5344CB8AC3E}">
        <p14:creationId xmlns:p14="http://schemas.microsoft.com/office/powerpoint/2010/main" val="16072013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8B4FEB-4540-495D-8BF7-6AD171A5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Пример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3A5F7-605F-4300-A0CC-53A17DF2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239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 i="0">
                <a:solidFill>
                  <a:srgbClr val="111111"/>
                </a:solidFill>
              </a:defRPr>
            </a:pPr>
            <a:r>
              <a:rPr sz="2550" b="1" i="0">
                <a:solidFill>
                  <a:srgbClr val="111111"/>
                </a:solidFill>
              </a:rPr>
              <a:t>Карточка товара хорошо объясняет продукт, но слабо доводит до покупки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999b09ddc4d2d"/>
          <a:srcRect xmlns:a="http://schemas.openxmlformats.org/drawingml/2006/main" l="0" t="26738" r="0" b="267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790700"/>
            <a:ext cx="6191250" cy="4400550"/>
          </a:xfrm>
          <a:prstGeom xmlns:a="http://schemas.openxmlformats.org/drawingml/2006/main" prst="roundRect">
            <a:avLst>
              <a:gd name="adj" fmla="val 1732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13D39-5740-4D8A-962B-7101CE62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90700"/>
            <a:ext cx="6191250" cy="4400550"/>
          </a:xfrm>
          <a:prstGeom xmlns:a="http://schemas.openxmlformats.org/drawingml/2006/main" prst="roundRect">
            <a:avLst>
              <a:gd name="adj" fmla="val 173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DF9B1-FA0A-47AF-BD4C-42A4F6AD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90700"/>
            <a:ext cx="4838700" cy="4400550"/>
          </a:xfrm>
          <a:prstGeom xmlns:a="http://schemas.openxmlformats.org/drawingml/2006/main" prst="roundRect">
            <a:avLst>
              <a:gd name="adj" fmla="val 173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22C47-061B-4CFC-BA1B-B44E4C07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764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Что хорошо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EA284-ECE9-43E9-860E-07235B31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41910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• Есть технические характеристики, назначение и преимущества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509E2-2DF2-4A20-811A-5586C158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77503"/>
            <a:ext cx="41910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• Есть вход в техподдержку и полезные материалы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31E3F-69B8-4E9B-995C-38834A88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97555"/>
            <a:ext cx="41910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• Контент помогает рациональному выбору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19ED3-FA6A-4393-90BD-F538EAC0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62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Что мешает конверсии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0C35D8-206B-4113-B313-0C585D1D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43375"/>
            <a:ext cx="41910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• Нет короткого buy path: где купить, узнать цену, подобрать объём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48CF4C-574E-4E07-8128-E93467ED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63428"/>
            <a:ext cx="41910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• CTA не повторяется после длинного техописания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BDB07-4A37-43E7-96EA-4E821D78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83480"/>
            <a:ext cx="419100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• Мелкий и плотный текст снижает scanability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E6BEE-BCB6-488B-9A43-ED6F8107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343650"/>
            <a:ext cx="11334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668CB7-7F7E-4D4E-B83C-D928C12A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86450"/>
            <a:ext cx="1133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1" i="0">
                <a:solidFill>
                  <a:srgbClr val="111111"/>
                </a:solidFill>
              </a:defRPr>
            </a:pPr>
            <a:r>
              <a:rPr sz="1650" b="1" i="0">
                <a:solidFill>
                  <a:srgbClr val="111111"/>
                </a:solidFill>
              </a:rPr>
              <a:t>Рекомендация: добавить рядом с карточкой товара компактный коммерческий блок с ценой / дилером / подбором объёма / CTA на консультацию</a:t>
            </a:r>
          </a:p>
        </p:txBody>
      </p:sp>
    </p:spTree>
    <p:extLst>
      <p:ext uri="{BB962C8B-B14F-4D97-AF65-F5344CB8AC3E}">
        <p14:creationId xmlns:p14="http://schemas.microsoft.com/office/powerpoint/2010/main" val="11244935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FA61C3-B61A-44C4-BD9E-A9FE8776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Формы и доступность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C7444-4CD2-4C92-BB86-61CF39D3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23900"/>
            <a:ext cx="695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 i="0">
                <a:solidFill>
                  <a:srgbClr val="111111"/>
                </a:solidFill>
              </a:defRPr>
            </a:pPr>
            <a:r>
              <a:rPr sz="2550" b="1" i="0">
                <a:solidFill>
                  <a:srgbClr val="111111"/>
                </a:solidFill>
              </a:rPr>
              <a:t>Формы и accessibility не сломаны полностью, но дают важные точки риска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5584f269f4459"/>
          <a:srcRect xmlns:a="http://schemas.openxmlformats.org/drawingml/2006/main" l="0" t="3360" r="0" b="33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723900"/>
            <a:ext cx="3943350" cy="5619750"/>
          </a:xfrm>
          <a:prstGeom xmlns:a="http://schemas.openxmlformats.org/drawingml/2006/main" prst="roundRect">
            <a:avLst>
              <a:gd name="adj" fmla="val 1932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BFF99-9569-4FA7-BA3E-D26BF842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23900"/>
            <a:ext cx="3943350" cy="5619750"/>
          </a:xfrm>
          <a:prstGeom xmlns:a="http://schemas.openxmlformats.org/drawingml/2006/main" prst="roundRect">
            <a:avLst>
              <a:gd name="adj" fmla="val 193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DF592-7B5A-4ECA-A651-664989D5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09750"/>
            <a:ext cx="33528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F2A3D-A55F-4687-AEBC-FD90F7E1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809750"/>
            <a:ext cx="33528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E79359-466F-472E-AD97-FF296840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24300"/>
            <a:ext cx="3352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08E72-FF04-4A06-BC86-51FC6F45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24300"/>
            <a:ext cx="3352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31750-A10A-4599-86EF-7DF433A9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Формы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E23C8-C900-42D7-B11F-3633D7FF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2667000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• Пустая отправка даёт корректный validation_failed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38449-2851-4B3E-9E35-6695BF5E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22258"/>
            <a:ext cx="2667000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• Заполненная тестовая отправка упирается в spam/captcha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79FF1-4987-4E14-AAA4-FBF95E18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6115"/>
            <a:ext cx="2667000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• Главная форма слишком тяжёлая для первого контакта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5C94A-1C80-4C29-96A9-5492E663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574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Клавиатура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AD2739-B438-4558-9167-121D9F72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38400"/>
            <a:ext cx="2762250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• Базовые focus-стили в Bootstrap есть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26692-BF07-454A-BF20-32864458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22258"/>
            <a:ext cx="2762250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• Но у mobile menu trigger нет aria-expanded и aria-controls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756EB-20A1-488D-9D4E-BEC513A5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06115"/>
            <a:ext cx="2762250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• На главной нет явного main-landmark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63DF82-EC25-4C6E-A5BA-78DF81C4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Screen reader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F123EE-3F20-4D32-8F21-10A8382E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2667000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• Есть aria-live-области у Contact Form 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EDDBCA-B37F-44A4-91F4-3301C6A6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6808"/>
            <a:ext cx="2667000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• Но поля форм не связаны устойчиво через label-for + 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27200C-9702-4336-AE08-F3DBC6FB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0665"/>
            <a:ext cx="2667000" cy="421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 b="0" i="0">
                <a:solidFill>
                  <a:srgbClr val="111111"/>
                </a:solidFill>
              </a:defRPr>
            </a:pPr>
            <a:r>
              <a:rPr sz="1275" b="0" i="0">
                <a:solidFill>
                  <a:srgbClr val="111111"/>
                </a:solidFill>
              </a:rPr>
              <a:t>• Декоративные изображения местами без корректного alt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2332CD-10CD-4EA6-A779-9C1B5356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71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Контраст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1514E6-01B7-4A84-B882-6ACCAD5A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101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150" b="1" i="0">
                <a:solidFill>
                  <a:srgbClr val="FF6B35"/>
                </a:solidFill>
              </a:defRPr>
            </a:pPr>
            <a:r>
              <a:rPr sz="3150" b="1" i="0">
                <a:solidFill>
                  <a:srgbClr val="FF6B35"/>
                </a:solidFill>
              </a:rPr>
              <a:t>4.32:1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CA3281-45FA-40F8-A00A-54523A26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625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350" b="0" i="0">
                <a:solidFill>
                  <a:srgbClr val="111111"/>
                </a:solidFill>
              </a:defRPr>
            </a:pPr>
            <a:r>
              <a:rPr sz="1350" b="0" i="0">
                <a:solidFill>
                  <a:srgbClr val="111111"/>
                </a:solidFill>
              </a:rPr>
              <a:t>Серый служебный текст на белом фоне не проходит AA для обычного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509006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7CBFD9-0709-459F-90BD-E1DED905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Приоритеты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EC2DB-722D-4770-951C-F7C2798B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23900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 i="0">
                <a:solidFill>
                  <a:srgbClr val="111111"/>
                </a:solidFill>
              </a:defRPr>
            </a:pPr>
            <a:r>
              <a:rPr sz="2550" b="1" i="0">
                <a:solidFill>
                  <a:srgbClr val="111111"/>
                </a:solidFill>
              </a:rPr>
              <a:t>Исправления лучше делать в порядке влияния на конверсию, а не в порядке косметики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1E194-5585-4718-AEE2-FAC0E78E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62150"/>
            <a:ext cx="3429000" cy="4000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E5E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5EA9B-3D01-4678-BBD8-9F26BFA2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62150"/>
            <a:ext cx="3429000" cy="4000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D4CBF-99E4-4BBB-B1C8-E2B6C189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62150"/>
            <a:ext cx="3981450" cy="400050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AD726-B1E1-44DA-B333-0C675343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 i="0">
                <a:solidFill>
                  <a:srgbClr val="111111"/>
                </a:solidFill>
              </a:defRPr>
            </a:pPr>
            <a:r>
              <a:rPr sz="2100" b="1" i="0">
                <a:solidFill>
                  <a:srgbClr val="111111"/>
                </a:solidFill>
              </a:rPr>
              <a:t>Сразу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00F33-439E-461F-B461-04139FF6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• Пересобрать mobile layout главной и ключевых шаблонов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55967-027C-4D0B-97E0-BF24236F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• Упростить первый экран и усилить один основной CTA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FB661-C6F7-4BA6-A45A-E3E26998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• Сделать hero понятным для холодного трафика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01AF4-7D3A-488E-8BDB-F613769D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47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 i="0">
                <a:solidFill>
                  <a:srgbClr val="111111"/>
                </a:solidFill>
              </a:defRPr>
            </a:pPr>
            <a:r>
              <a:rPr sz="2100" b="1" i="0">
                <a:solidFill>
                  <a:srgbClr val="111111"/>
                </a:solidFill>
              </a:rPr>
              <a:t>Следующий спринт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C916A-B293-4529-9D50-91D9BE74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62250"/>
            <a:ext cx="276225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• Сократить поля первого контакта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E649F6-44FD-4364-9DB1-05F0A165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01353"/>
            <a:ext cx="276225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• Добавить buy path на карточки товара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4C667-C1D3-480B-879E-7AFE19AE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40455"/>
            <a:ext cx="276225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• Починить mobile menu accessibility и landmarks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BD3E8-2755-4C08-8442-5645F709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79558"/>
            <a:ext cx="276225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• Усилить CTA-повторы на длинных страницах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5D0BE-A9D5-482E-B994-82600EC2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 i="0">
                <a:solidFill>
                  <a:srgbClr val="111111"/>
                </a:solidFill>
              </a:defRPr>
            </a:pPr>
            <a:r>
              <a:rPr sz="2100" b="1" i="0">
                <a:solidFill>
                  <a:srgbClr val="111111"/>
                </a:solidFill>
              </a:rPr>
              <a:t>Дальше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90447-B0B0-47AD-9AA6-7E7E893E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14325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• Обновить визуальную систему без потери бренда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976B2D-6D06-43E4-8BC5-DA2B3F77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1353"/>
            <a:ext cx="314325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• Привести в порядок alt, labels и контраст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00E6A5-9922-4D63-A931-F91F3F51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40455"/>
            <a:ext cx="314325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• Освежить новости, кейсы и маркеры актуальности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D716BA-C2F3-4FBD-91D5-E9888726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79558"/>
            <a:ext cx="314325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425" b="0" i="0">
                <a:solidFill>
                  <a:srgbClr val="111111"/>
                </a:solidFill>
              </a:defRPr>
            </a:pPr>
            <a:r>
              <a:rPr sz="1425" b="0" i="0">
                <a:solidFill>
                  <a:srgbClr val="111111"/>
                </a:solidFill>
              </a:rPr>
              <a:t>• Повысить scanability длинных текстов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D424E7-D305-45D0-B1CB-27A2E0C9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29350"/>
            <a:ext cx="1133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650" b="1" i="0">
                <a:solidFill>
                  <a:srgbClr val="111111"/>
                </a:solidFill>
              </a:defRPr>
            </a:pPr>
            <a:r>
              <a:rPr sz="1650" b="1" i="0">
                <a:solidFill>
                  <a:srgbClr val="111111"/>
                </a:solidFill>
              </a:rPr>
              <a:t>Порядок важен: если начать с редизайна кнопок и иконок, эффект будет заметно ниже, чем от mobile-first и пересборки hero.</a:t>
            </a:r>
          </a:p>
        </p:txBody>
      </p:sp>
    </p:spTree>
    <p:extLst>
      <p:ext uri="{BB962C8B-B14F-4D97-AF65-F5344CB8AC3E}">
        <p14:creationId xmlns:p14="http://schemas.microsoft.com/office/powerpoint/2010/main" val="14713680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19B0A2-F1FB-4A36-A49E-43551D59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 b="1" i="0">
                <a:solidFill>
                  <a:srgbClr val="555555"/>
                </a:solidFill>
              </a:defRPr>
            </a:pPr>
            <a:r>
              <a:rPr sz="1050" b="1" i="0">
                <a:solidFill>
                  <a:srgbClr val="555555"/>
                </a:solidFill>
              </a:rPr>
              <a:t>Финал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2BFD7-7E8E-449B-908F-B6CB2DE5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5725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850" b="1" i="0">
                <a:solidFill>
                  <a:srgbClr val="111111"/>
                </a:solidFill>
              </a:defRPr>
            </a:pPr>
            <a:r>
              <a:rPr sz="2850" b="1" i="0">
                <a:solidFill>
                  <a:srgbClr val="111111"/>
                </a:solidFill>
              </a:rPr>
              <a:t>Если исправить первые 3 зоны, сайт начнёт лучше конвертировать без полной замены бренда и структуры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F6925-61B5-4F07-9432-0FC6DFAA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38400"/>
            <a:ext cx="11334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85E7E-3442-422D-8190-A492CF5D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 i="0">
                <a:solidFill>
                  <a:srgbClr val="111111"/>
                </a:solidFill>
              </a:defRPr>
            </a:pPr>
            <a:r>
              <a:rPr sz="2100" b="1" i="0">
                <a:solidFill>
                  <a:srgbClr val="111111"/>
                </a:solidFill>
              </a:rPr>
              <a:t>Три главных действия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A6621-DA29-48CA-BFD9-2E823289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10287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 i="0">
                <a:solidFill>
                  <a:srgbClr val="111111"/>
                </a:solidFill>
              </a:defRPr>
            </a:pPr>
            <a:r>
              <a:rPr sz="1800" b="0" i="0">
                <a:solidFill>
                  <a:srgbClr val="111111"/>
                </a:solidFill>
              </a:rPr>
              <a:t>• Починить mobile-first layout главной и товарных шаблонов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A215C-4447-40E4-9CAE-0BBF0D6C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49040"/>
            <a:ext cx="10287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 i="0">
                <a:solidFill>
                  <a:srgbClr val="111111"/>
                </a:solidFill>
              </a:defRPr>
            </a:pPr>
            <a:r>
              <a:rPr sz="1800" b="0" i="0">
                <a:solidFill>
                  <a:srgbClr val="111111"/>
                </a:solidFill>
              </a:rPr>
              <a:t>• Собрать первый экран вокруг одного сильного CTA и ясного value proposition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0318D-E718-4D46-9A42-5DC7C686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97680"/>
            <a:ext cx="102870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0" i="0">
                <a:solidFill>
                  <a:srgbClr val="111111"/>
                </a:solidFill>
              </a:defRPr>
            </a:pPr>
            <a:r>
              <a:rPr sz="1800" b="0" i="0">
                <a:solidFill>
                  <a:srgbClr val="111111"/>
                </a:solidFill>
              </a:rPr>
              <a:t>• Сократить формы и добавить короткий путь к покупке на карточках товара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F34F7-996F-4BC1-B79D-7F13AD47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34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1" i="0">
                <a:solidFill>
                  <a:srgbClr val="111111"/>
                </a:solidFill>
              </a:defRPr>
            </a:pPr>
            <a:r>
              <a:rPr sz="1800" b="1" i="0">
                <a:solidFill>
                  <a:srgbClr val="111111"/>
                </a:solidFill>
              </a:rPr>
              <a:t>Ожидаемый эффект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B83FB-C5D3-4C7C-8949-00A208B2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150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• Меньше отказов с мобильных устройств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72F1D8-5185-4D6C-B0F5-04DF4EB5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722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• Больше первых кликов в коммерчески полезные сценарии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69A86-2A79-4CA8-87A6-53AC6BB4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 b="0" i="0">
                <a:solidFill>
                  <a:srgbClr val="111111"/>
                </a:solidFill>
              </a:defRPr>
            </a:pPr>
            <a:r>
              <a:rPr sz="1500" b="0" i="0">
                <a:solidFill>
                  <a:srgbClr val="111111"/>
                </a:solidFill>
              </a:rPr>
              <a:t>• Более современное восприятие сильного бренда без тотального rebuild сайта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549D1-6C42-4B5B-8BF0-E16324C1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149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 b="0" i="0">
                <a:solidFill>
                  <a:srgbClr val="555555"/>
                </a:solidFill>
              </a:defRPr>
            </a:pPr>
            <a:r>
              <a:rPr sz="1350" b="0" i="0">
                <a:solidFill>
                  <a:srgbClr val="555555"/>
                </a:solidFill>
              </a:rPr>
              <a:t>Материалы в основе deck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 b="0" i="0">
                <a:solidFill>
                  <a:srgbClr val="555555"/>
                </a:solidFill>
              </a:defRPr>
            </a:pPr>
            <a:r>
              <a:rPr sz="1350" b="0" i="0">
                <a:solidFill>
                  <a:srgbClr val="555555"/>
                </a:solidFill>
              </a:rPr>
              <a:t>скриншоты сайта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 b="0" i="0">
                <a:solidFill>
                  <a:srgbClr val="555555"/>
                </a:solidFill>
              </a:defRPr>
            </a:pPr>
            <a:r>
              <a:rPr sz="1350" b="0" i="0">
                <a:solidFill>
                  <a:srgbClr val="555555"/>
                </a:solidFill>
              </a:rPr>
              <a:t>локальный UX-аудит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 b="0" i="0">
                <a:solidFill>
                  <a:srgbClr val="555555"/>
                </a:solidFill>
              </a:defRPr>
            </a:pPr>
            <a:r>
              <a:rPr sz="1350" b="0" i="0">
                <a:solidFill>
                  <a:srgbClr val="555555"/>
                </a:solidFill>
              </a:rPr>
              <a:t>follow-up по формам и accessibility</a:t>
            </a:r>
          </a:p>
        </p:txBody>
      </p:sp>
    </p:spTree>
    <p:extLst>
      <p:ext uri="{BB962C8B-B14F-4D97-AF65-F5344CB8AC3E}">
        <p14:creationId xmlns:p14="http://schemas.microsoft.com/office/powerpoint/2010/main" val="1000031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2026-07-13T15:04:37.0730000Z</dcterms:created>
  <dcterms:modified xsi:type="dcterms:W3CDTF">2026-07-13T15:04:37.0730000Z</dcterms:modified>
</coreProperties>
</file>